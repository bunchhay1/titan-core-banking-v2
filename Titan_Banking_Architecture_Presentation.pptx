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B82F6"/>
                </a:solidFill>
              </a:defRPr>
            </a:pPr>
            <a:r>
              <a:t>CORE BANKING ARCHITECTURE &amp; CODE EXPLANATION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Presentation about Titan-Banking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Detailed code explanation of ACID transactions, double-entry ledger, outbox relay, and polyglot microservices.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32720" cy="25603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Developer Profile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Name : Kaing Bunchhay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Sex : Male   |   Birthday : 12/04/2000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Project : Titan-banking   |   Started on : 20/09/2025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Location : Phnom Penh, Cambodia   |   Phone : 012 440 122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Email : kaingbunchhay1@gmail.com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GitHub : https://github.com/Bunchhay1   |   LinkedIn : linkedin.com/in/bunchhay-kaing-94a522240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TITAN-BANKING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Languages &amp; Runtimes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Multi-language ecosystem selected specifically for performance, financial safety, and AI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Java 21 (LTS)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Virtual Threads &amp; Fibers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Records for immutable DTOs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Pattern matching switch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Sequenced Collections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Powers core-banking engine, promotions &amp;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Go 1.22+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High-speed edge routing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Sliding-window rate limiting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Automatic IP abuse banning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Stateless JWT validation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ReverseProxy header injection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Python 3.x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FastAPI HTTP framework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gRPC Protobuf server (:50051)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Real-time fraud scoring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Instant &gt;$10k transfer block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psycopg2 connection pool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Swift / SwiftUI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Native iOS mobile client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Biometric authentication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QR payment generation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Live account balances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Push notification receiver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BACKEND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Backend Frameworks, Libraries &amp; System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Production-grade frameworks structured across bounded microservice domains.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7548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Frameworks &amp; Infrastructure Roles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2286000"/>
          <a:ext cx="102412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676656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</a:defRPr>
                      </a:pPr>
                      <a:r>
                        <a:t>Framework / Library</a:t>
                      </a:r>
                    </a:p>
                  </a:txBody>
                  <a:tcPr>
                    <a:solidFill>
                      <a:srgbClr val="1B2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</a:defRPr>
                      </a:pPr>
                      <a:r>
                        <a:t>Role in Architecture</a:t>
                      </a:r>
                    </a:p>
                  </a:txBody>
                  <a:tcPr>
                    <a:solidFill>
                      <a:srgbClr val="1B284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Spring Boot v3.2.3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Main microservices core logic, dependency injection, and REST controllers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Spring Cloud v2023.0.0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Gateway integration, HashiCorp Vault configuration, and service discovery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Spring Security + JWT (jjwt 0.11.5)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Stateless authentication, PIN password hashing, and role authorization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Spring Data JPA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Database persistence, repositories, and pessimistic write query locking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Spring Kafka / Kafka Streams (v3.1.2 / 3.6.1)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Asynchronous event streaming, outbox relays, and topic consumer listeners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gRPC + Protobuf (1.62.2 / 3.25.1)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Sub-millisecond inter-service RPC for synchronous AI risk scoring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Resilience4j v2.2.0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Circuit breaker, retries, and local fail-safe fallback policies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Flyway v10.8.1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Automated database schema migrations and versioning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FastAPI / gRPC (Python)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High-performance AI risk engine and analytical report endpoints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DATA &amp; 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Storage, Caching &amp; Event Bus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Storage and streaming infrastructure configured for zero-loss financial consistency.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7548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Data &amp; Messaging Stack Overview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2286000"/>
          <a:ext cx="102412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132320"/>
              </a:tblGrid>
              <a:tr h="5617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2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</a:defRPr>
                      </a:pPr>
                      <a:r>
                        <a:t>Storage &amp; Messaging Role</a:t>
                      </a:r>
                    </a:p>
                  </a:txBody>
                  <a:tcPr>
                    <a:solidFill>
                      <a:srgbClr val="1B284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PostgreSQL v15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Primary relational database: titandb, notificationdb, loansdb, promotiondb, titan_systemdb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Redis v7.2 (Alpine)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In-memory caching, OTP generation (5-min TTL), idempotency key storage, and distributed locks (SETNX)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Apache Kafka v7.6.0 (KRaft)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Enterprise event bus with topics: banking.transactions.completed, banking.alerts, banking.dlq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Neo4j Graph DB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Multi-level viral referral graph traversals (&lt;5ms for 10-level chains)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Redisson v3.27.2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Distributed Redis client and cluster lock management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Debezium v2.5.0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Change Data Capture (CDC) streaming database mutation logs into analytical data lake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INFRASTRUCTURE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Infra, DevOps, CI/CD &amp; Tracing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Complete deployment lifecycle from container orchestration to distributed tracing.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Deployment &amp;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Kubernetes (k8s/ manifests): Container orchestration, services, deployments, and ingress rules.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Render (render.yaml): Cloud blueprint for multi-service hosting.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Docker &amp; Compose: Local single-command stack deployment (docker compose up -d --build).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GitHub Actions: Automated Continuous Integration (CI) test and build pipelines.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HashiCorp Vault: Dynamic secret injection and credential rotation for notifications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Observability &amp; Testing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Prometheus: Automated metrics scraping across JVM Actuator and Kafka brokers.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Grafana: Real-time dashboards visualizing transactions per second, JVM memory, and consumer lag.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Zipkin / OpenTelemetry: Distributed request tracing across Gateway -&gt; Core Engine -&gt; AI Service.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Testcontainers: Automated integration testing with isolated throwaway PostgreSQL and Redis containers.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SECURITY &amp; BUILD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Security Architecture, Documentation &amp; Build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Multi-layered security defense with automated developer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Security &amp; Cryptography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JWT Authentication: Stateless session tokens with HMAC-SHA256 signature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2FA / OTP Verification: High-value transfers require One-Time Passwords stored in Redis (5-min TTL).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BouncyCastle / S/MIME: Cryptographic email signing and statement encryption in notification service.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SSL for Kafka: Encrypted broker communication in production.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Springdoc OpenAPI / Swagger UI: Interactive API documentation at /swagger-ui.html for real-time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Build Tools &amp; Polyglot Overview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Maven: Build management for core-banking and notification services.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Gradle: Build tool for promotions and loans service modules.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Go Modules: Package and dependency management for Go gateway.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Pip / Requirements.txt: Virtual environment dependency management for Python AI service.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Summary: Polyglot microservices banking platform — Java 21 + Spring Boot 3 core, Kafka + Postgres + Redis, Go Gateway, Python AI, and SwiftUI mobile.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CODE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ACID Transactions &amp; Deadlock-Free Concurrency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Code Reference: TransactionService.java &amp; AccountRepository.java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How the Code Works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Pessimistic Locking: Uses LockModeType.PESSIMISTIC_WRITE (SELECT FOR UPDATE) to lock sender and receiver account rows.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TOCTOU Elimination: Locks rows FIRST before validating user ownership, PIN matches, and balance sufficiency.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Deadlock Elimination Algorithm: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boolean lockFromFirst = fromAccount.compareTo(toAccount) &lt; 0;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Accounts are ALWAYS locked in sorted lexicographical order. This eliminates circular wait deadlocks when two accounts transfer to each other simultaneously.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Atomicity: Entire transfer executes within Spring @Transactional boundary with automatic rollback on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Source Code Snippet (TransactionService.java)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// 🔥 DEADLOCK PREVENTION: Lock Ordering Strategy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boolean lockFromFirst = request.fromAccountNumber()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.compareTo(request.toAccountNumber()) &lt; 0;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if (lockFromFirst) {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fromAccount = fetchWithLock(request.fromAccountNumber());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toAccount = fetchWithLock(request.toAccountNumber());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} else {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toAccount = fetchWithLock(request.toAccountNumber());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fromAccount = fetchWithLock(request.fromAccountNumber());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// Deduct &amp; Credit on locked row state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fromAccount.setBalance(fromAccount.getBalance().subtract(total));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toAccount.setBalance(toAccount.getBalance().add(targetAmount));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CODE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Double-Entry Bookkeeping &amp; Daily Reconciliation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Code Reference: DoubleEntryService.java &amp; ReconciliationService.java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Double-Entry Ledger Logic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Accounting Equation: Assets = Liabilities + Equity.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Immutable Records: Every balance movement creates paired DEBIT and CREDIT records in LedgerEntry.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Debit Entry: Money out from sender account.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Credit Entry: Money in to receiver account.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Auditability: Stores transactionId, accountId, amount, entryType, description, and createdBy userId.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Balance Verification: Balances can always be verified independently from ledger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Automated Daily 3:00 AM Cron Reconciliation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Scheduled Job: @Scheduled(cron = '0 0 3 * * *') runs daily at 3:00 AM UTC.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Mathematical Check: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BigDecimal ledgerBalance = ledgerRepository.calculateAccountBalance(account.getId());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Discrepancy Trigger: If account.getBalance() != ledgerBalance: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log.error('RECONCILIATION FAILURE for Account {}', accNum);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fireReconciliationAlert(account, ledgerBalance);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Alerting: Dispatches anomaly event to Kafka topic 'banking.alerts' immediately.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CODE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Transactional Outbox Pattern &amp; Zero Dual-Write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Code Reference: OutboxRelayService.java &amp; EventPublisherService.java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The Outbox Pattern Solution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Dual-Write Prevention: When a transaction completes, EventPublisherService writes an OutboxEvent into the PostgreSQL outbox_events table inside the SAME SQL transaction.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Guaranteed Atomicity: If the DB transaction commits, the outbox event is guaranteed to exist. If it rolls back, the event rolls back.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Asynchronous Dispatch: OutboxRelayService polls the table every 2 seconds (@Scheduled(fixedDelay = 2000)) and sends records to Kafka topic 'banking.transactions.completed'.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Marking Success: Upon Kafka ACK, sets published=true and records published_at timestamp.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Distributed Lock &amp; Error Retries (OutboxRelayService.java)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// Redis Distributed Lock (prevents duplicate relays)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Boolean acquired = redisTemplate.opsForValue()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.setIfAbsent(LOCK_KEY, String.valueOf(now), LOCK_TTL);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// Fallback to in-process AtomicBoolean lock if Redis is off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localLock.compareAndSet(false, true);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// Retry Handling: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if (event.getRetryCount() &gt;= MAX_RETRIES) {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log.error('Event {} exceeded max retries. Marking dead.');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} else {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event.setRetryCount(event.getRetryCount() + 1);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CODE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Go Gateway: Sliding-Window Rate Limiting &amp; Auto IP 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Code Reference: titan-gateway-go/main.go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Gateway Traffic Shaping Engine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In-Memory Sliding Window: Each client IP maintains a slice of request timestamps protected by a sync.Mutex.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Window Pruning: On each incoming request, timestamps older than windowSeconds (60s) are dropped.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Threshold Check: If remaining count &gt;= maxRequests (100 req/s), the IP is banned for blockMinutes (5 minutes).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HTTP 429 Response: Returns HTTP 429 Too Many Requests with Retry-After header.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Background Sweeper: A background goroutine sweeps idle IP states every 5 minutes to prevent memory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Sliding-Window Implementation (main.go)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// Slide the window and prune expired timestamps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cutoff := now.Add(-l.window)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fresh := state.timestamps[:0]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for _, t := range state.timestamps {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if t.After(cutoff) { fresh = append(fresh, t) 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state.timestamps = fresh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// Limit reached -&gt; BLOCK IP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if len(state.timestamps) &gt;= l.maxRequests {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state.blockedUntil = now.Add(l.blockDur)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log.Printf('🚫 BLOCKED IP=%s hit limit', ip)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return false, state.blockedUntil, len(state.timestamps)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CODE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 Risk Engine: Real-Time gRPC Scoring &amp; Instant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Code Reference: titan-ai-service/main.py &amp; RiskEngineGrpcService.java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AI Risk Evaluation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Synchronous gRPC Protocol: Core banking invokes Python CheckRisk RPC on port 50051 with 3000ms deadline.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Risk Scoring Rules: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• &lt; $1,000      → Score: 10  | Level: LOW     | Action: ALLOW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• $1,000 - $10k → Score: 50  | Level: MEDIUM  | Action: REVIEW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• &gt;= $10,000    → Score: 100 | Level: BLOCKED | Action: BLOCK ⛔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Resilience4j Circuit Breaker: If AI service is down, fallback automatically blocks &gt;= $100k transfers locally and fails open for manual review.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Async DB Write: Blocked transfer records are saved on background threads to ensure sub-3ms gRPC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Risk Scoring Logic (Python main.py)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def _calculate_risk(self, request):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amount = request.amount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if amount &lt; RISK_LOW_MAX_AMOUNT: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  return 10, 'LOW', 'ALLOW'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elif amount &lt; RISK_BLOCK_THRESHOLD: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  return 50, 'MEDIUM', 'REVIEW'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else: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  # Amount &gt;= $10,000 -&gt; Instant Block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  logger.warning(f'🚫 HIGH-VALUE BLOCK: {amount}')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  return 100, 'BLOCKED', 'BLOCK'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SERVICE API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Banking Service: 40 Endpoints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Complete catalog of production endpoints on titan-core-banking (:8080).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Auth &amp; Accounts (1-6)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1. POST /api/v1/auth/register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2. POST /api/v1/auth/login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3. POST /api/auth/otp/generate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4. POST /api/v1/accounts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5. GET /api/v1/accounts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6. GET /api/v1/accounts/{id}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Users &amp; Transactions (7-17)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7. GET /api/v1/users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8. GET /api/v1/users/{id}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9. POST /api/v1/users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10. PUT /api/v1/users/{id}/tier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11. POST /api/v1/transactions/transfer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12. POST /api/v1/transactions/withdraw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13. POST /api/v1/transactions/deposit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14. POST /api/v1/transactions/international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15. GET /api/v1/transactions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16. POST /api/v1/transactions/internal/disburse-loan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17. POST /api/v1/transactions/internal/deduct-fee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Loans Proxy (18-24)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18. POST /api/v1/loans/apply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19. PUT /api/v1/loans/{id}/approve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20. PUT /api/v1/loans/{id}/reject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21. GET /api/v1/loans/{id}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22. GET /api/v1/loans/my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23. GET /api/v1/loans/account/{accountId}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24. GET /api/v1/loans/{id}/repayments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SERVICE API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Banking Service: 40 Endpoints (Part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ATM, QR Payment, Notifications, Statements, Fixed Deposits &amp; Administration.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ATM &amp; QR Payments (25-32)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25. POST /api/v1/atm/generate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26. POST /api/v1/atm/redeem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27. DELETE /api/v1/atm/cancel/{code}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28. GET /api/v1/atm/status/{code}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29. POST /api/v1/qr/generate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30. POST /api/v1/qr/pay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31. POST /api/v1/qr/cancel/{qrCode}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32. GET /api/v1/qr/history/{accountNumber}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Notifications &amp; Statements (33-37)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33. POST /api/v1/notifications/device-token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34. GET /api/v1/notifications/internal/device-tokens/{username}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35. GET /api/v1/statements/{accountId}/pdf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36. POST /api/v1/scheduled-transactions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37. POST /api/v1/fixed-deposits/create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Admin &amp; Testing (38-40)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38. GET /api/admin/outbox/status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39. GET /api/demo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40. GET /test-connection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Total Core Endpoints: 40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All authenticated endpoints protected by Spring Security JWT filter.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SERVICE API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Notifications Service: 14 REST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Multi-channel dispatcher on titan-notifications-service (:8082).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Notify &amp; Audit (1-5)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1. POST /api/notify/transaction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2. GET /api/notify/health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3. GET /api/audit/user/{username}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4. GET /api/audit/transaction/{transactionId}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5. GET /api/audit/account/{accountId}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Preferences &amp; Webhooks (6-11)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6. GET /api/preferences/{userId}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7. PUT /api/preferences/{userId}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8. POST /api/webhooks/twilio/status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9. POST /api/webhooks/sendgrid/events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10. POST /webhooks/twilio/sms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11. POST /webhooks/whatsapp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Chaos Engineering (12-14)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12. POST /chaos/blackout/start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13. POST /chaos/blackout/stop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14. GET /chaos/blackout/status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Features: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• SMS Failover: Twilio &lt;-&gt; SNS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• Email Failover: SendGrid &lt;-&gt; SES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• PII Redaction in Logback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SERVICE API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Promotions Service: 14 REST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Gamification, quests &amp; referral engine on titan-promotions-service (:8083).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Deposit, Quests &amp; Referrals (1-6)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1. POST /promotions/deposit/apply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2. GET /promotions/deposit/status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3. POST /api/quests/start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4. POST /api/quests/{questId}/progress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5. GET /api/quests/{questId}/status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6. POST /api/referrals/add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Merchant &amp; Shadow Rules (7-9)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7. POST /api/merchant/campaigns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8. GET /api/merchant/campaigns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9. GET /api/shadow/rules/{ruleId}/cost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Features: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• Neo4j Graph Referrals (&lt;5ms)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• Redis-backed Spring Statemachine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Campaign Admin (10-14)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10. POST /admin/campaigns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11. PUT /admin/campaigns/{id}/pause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12. PUT /admin/campaigns/{id}/revoke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13. PUT /admin/campaigns/{id}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14. GET /admin/campaigns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SERVICE API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Loans Service: 9 REST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Lending management engine on titan-loans-service (:8085).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Loan Management Endpoints (1-9)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1. POST /api/v1/loans/apply — Submit loan application with desired tenure &amp; amount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2. PUT /api/v1/loans/{id}/approve — Approve application &amp; generate repayment schedule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3. PUT /api/v1/loans/{id}/reject — Reject loan application with audit reason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4. GET /api/v1/loans/{id} — Fetch loan details and schedule status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5. GET /api/v1/loans/my — Retrieve authenticated user's active loans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6. GET /api/v1/loans/account/{accountId} — Retrieve loans linked to account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7. GET /api/v1/loans/{id}/repayments — Calculate outstanding amortization table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8. GET /api/v1/loans — Administrative query for all loan applications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9. GET /api/v1/loans/internal/health — Service health and readiness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Lending Engine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Disbursement Flow: Inter-service communication with Core Banking via /api/v1/transactions/internal/disburse-loan.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Automated Fee Deduction: Internal fee deduction via /api/v1/transactions/internal/deduct-fee.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Scheduled Amortization: Daily interest accrual and repayment schedule tracking.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Isolated Persistence: Dedicated loansdb PostgreSQL database instance.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ARCHITECTURAL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Technical Invariants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Titan Core Banking Protocol summary of code guarantees and architectural integrity.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Core Code Invariants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100% ACID Concurrency: Pessimistic row locking + ordered lock acquisition eliminating race conditions and deadlocks.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Immutable Double-Entry Ledger: Balanced Debit/Credit accounting with 3 AM automated reconciliation.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Zero Dual-Write Event Loss: Transactional Outbox Pattern relaying events to Kafka with Redis distributed locks.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Sub-3ms Real-Time AI Sentinel: Synchronous gRPC Protobuf evaluation with hard $10k block threshold.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Edge Traffic Shaping: Go Gateway with sliding-window rate limiting and auto 5-min IP ban.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Developer Contact &amp; Links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Name: Kaing Bunchhay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Location: Phnom Penh, Cambodia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Phone: 012 440 122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Email: kaingbunchhay1@gmail.com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GitHub: https://github.com/Bunchhay1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LinkedIn: https://linkedin.com/in/bunchhay-kaing-94a522240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Repository: https://github.com/Bunchhay1/titan-core-banking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